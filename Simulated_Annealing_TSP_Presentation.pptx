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</p:sldIdLst>
  <p:sldSz cx="18288000" cy="10287000"/>
  <p:notesSz cx="6858000" cy="9144000"/>
  <p:embeddedFontLst>
    <p:embeddedFont>
      <p:font typeface="Times New Roman Bold" pitchFamily="18" charset="0"/>
      <p:bold r:id="rId23"/>
    </p:embeddedFont>
    <p:embeddedFont>
      <p:font typeface="Times New Roman Italics" charset="0"/>
      <p:regular r:id="rId24"/>
    </p:embeddedFont>
    <p:embeddedFont>
      <p:font typeface="Consolas" pitchFamily="49" charset="0"/>
      <p:regular r:id="rId25"/>
      <p:bold r:id="rId26"/>
      <p:italic r:id="rId27"/>
      <p:boldItalic r:id="rId28"/>
    </p:embeddedFont>
    <p:embeddedFont>
      <p:font typeface="Calibri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474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41" y="0"/>
            <a:ext cx="6336792" cy="4279392"/>
            <a:chOff x="0" y="0"/>
            <a:chExt cx="8449056" cy="5705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9056" cy="5705856"/>
            </a:xfrm>
            <a:custGeom>
              <a:avLst/>
              <a:gdLst/>
              <a:ahLst/>
              <a:cxnLst/>
              <a:rect l="l" t="t" r="r" b="b"/>
              <a:pathLst>
                <a:path w="8449056" h="5705856">
                  <a:moveTo>
                    <a:pt x="0" y="0"/>
                  </a:moveTo>
                  <a:lnTo>
                    <a:pt x="8449056" y="0"/>
                  </a:lnTo>
                  <a:lnTo>
                    <a:pt x="0" y="5705856"/>
                  </a:lnTo>
                  <a:close/>
                </a:path>
              </a:pathLst>
            </a:custGeom>
            <a:solidFill>
              <a:srgbClr val="1F80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667512" y="365379"/>
            <a:ext cx="448056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CLUSTER: AI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910560" y="301752"/>
            <a:ext cx="1772679" cy="1988820"/>
            <a:chOff x="0" y="0"/>
            <a:chExt cx="2363572" cy="2651760"/>
          </a:xfrm>
        </p:grpSpPr>
        <p:sp>
          <p:nvSpPr>
            <p:cNvPr id="6" name="Freeform 6" descr="tu.png"/>
            <p:cNvSpPr/>
            <p:nvPr/>
          </p:nvSpPr>
          <p:spPr>
            <a:xfrm>
              <a:off x="0" y="0"/>
              <a:ext cx="2363597" cy="2651760"/>
            </a:xfrm>
            <a:custGeom>
              <a:avLst/>
              <a:gdLst/>
              <a:ahLst/>
              <a:cxnLst/>
              <a:rect l="l" t="t" r="r" b="b"/>
              <a:pathLst>
                <a:path w="2363597" h="2651760">
                  <a:moveTo>
                    <a:pt x="0" y="0"/>
                  </a:moveTo>
                  <a:lnTo>
                    <a:pt x="2363597" y="0"/>
                  </a:lnTo>
                  <a:lnTo>
                    <a:pt x="2363597" y="2651760"/>
                  </a:lnTo>
                  <a:lnTo>
                    <a:pt x="0" y="265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240280" y="1937084"/>
            <a:ext cx="13670280" cy="4780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Aft>
                <a:spcPts val="600"/>
              </a:spcAft>
            </a:pPr>
            <a:r>
              <a:rPr sz="3000" b="1" dirty="0">
                <a:solidFill>
                  <a:srgbClr val="0B0B0B"/>
                </a:solidFill>
                <a:latin typeface="Times New Roman"/>
              </a:rPr>
              <a:t>TRIBHUVAN UNIVERSITY</a:t>
            </a:r>
          </a:p>
          <a:p>
            <a:pPr algn="ctr">
              <a:spcAft>
                <a:spcPts val="2800"/>
              </a:spcAft>
            </a:pPr>
            <a:r>
              <a:rPr sz="3000" b="1" dirty="0">
                <a:solidFill>
                  <a:srgbClr val="0B0B0B"/>
                </a:solidFill>
                <a:latin typeface="Times New Roman"/>
              </a:rPr>
              <a:t>INSTITUTE OF ENGINEERING, PULCHOWK CAMPUS</a:t>
            </a:r>
          </a:p>
          <a:p>
            <a:pPr algn="ctr">
              <a:spcAft>
                <a:spcPts val="0"/>
              </a:spcAft>
            </a:pPr>
            <a:r>
              <a:rPr sz="4400" b="1" dirty="0">
                <a:solidFill>
                  <a:srgbClr val="0B0B0B"/>
                </a:solidFill>
                <a:latin typeface="Times New Roman"/>
              </a:rPr>
              <a:t>Simulated Annealing for the</a:t>
            </a:r>
          </a:p>
          <a:p>
            <a:pPr algn="ctr">
              <a:spcAft>
                <a:spcPts val="1400"/>
              </a:spcAft>
            </a:pPr>
            <a:r>
              <a:rPr sz="4400" b="1" dirty="0">
                <a:solidFill>
                  <a:srgbClr val="0B0B0B"/>
                </a:solidFill>
                <a:latin typeface="Times New Roman"/>
              </a:rPr>
              <a:t>Travelling Salesman Problem</a:t>
            </a:r>
          </a:p>
          <a:p>
            <a:pPr algn="ctr">
              <a:spcAft>
                <a:spcPts val="3400"/>
              </a:spcAft>
            </a:pPr>
            <a:r>
              <a:rPr sz="2400" b="0" dirty="0">
                <a:solidFill>
                  <a:srgbClr val="52514E"/>
                </a:solidFill>
                <a:latin typeface="Times New Roman"/>
              </a:rPr>
              <a:t>Finding a short driving route through 20 real Kathmandu locations</a:t>
            </a:r>
          </a:p>
          <a:p>
            <a:pPr algn="ctr">
              <a:spcAft>
                <a:spcPts val="800"/>
              </a:spcAft>
            </a:pPr>
            <a:r>
              <a:rPr sz="2200" b="1" dirty="0">
                <a:solidFill>
                  <a:srgbClr val="0B0B0B"/>
                </a:solidFill>
                <a:latin typeface="Times New Roman"/>
              </a:rPr>
              <a:t>AI Project</a:t>
            </a:r>
          </a:p>
          <a:p>
            <a:pPr algn="ctr">
              <a:spcAft>
                <a:spcPts val="200"/>
              </a:spcAft>
            </a:pPr>
            <a:r>
              <a:rPr lang="en-US" sz="2200" b="0" dirty="0" err="1" smtClean="0">
                <a:solidFill>
                  <a:srgbClr val="0B0B0B"/>
                </a:solidFill>
                <a:latin typeface="Times New Roman"/>
              </a:rPr>
              <a:t>Nischal</a:t>
            </a:r>
            <a:r>
              <a:rPr lang="en-US" sz="2200" b="0" dirty="0" smtClean="0">
                <a:solidFill>
                  <a:srgbClr val="0B0B0B"/>
                </a:solidFill>
                <a:latin typeface="Times New Roman"/>
              </a:rPr>
              <a:t> </a:t>
            </a:r>
            <a:r>
              <a:rPr lang="en-US" sz="2200" b="0" dirty="0" err="1" smtClean="0">
                <a:solidFill>
                  <a:srgbClr val="0B0B0B"/>
                </a:solidFill>
                <a:latin typeface="Times New Roman"/>
              </a:rPr>
              <a:t>Ghimire</a:t>
            </a:r>
            <a:r>
              <a:rPr lang="en-US" sz="2200" b="0" dirty="0" smtClean="0">
                <a:solidFill>
                  <a:srgbClr val="0B0B0B"/>
                </a:solidFill>
                <a:latin typeface="Times New Roman"/>
              </a:rPr>
              <a:t>(080BCT050),</a:t>
            </a:r>
            <a:r>
              <a:rPr lang="en-US" sz="2200" b="0" dirty="0" err="1" smtClean="0">
                <a:solidFill>
                  <a:srgbClr val="0B0B0B"/>
                </a:solidFill>
                <a:latin typeface="Times New Roman"/>
              </a:rPr>
              <a:t>Sarthak</a:t>
            </a:r>
            <a:r>
              <a:rPr lang="en-US" sz="2200" b="0" dirty="0" smtClean="0">
                <a:solidFill>
                  <a:srgbClr val="0B0B0B"/>
                </a:solidFill>
                <a:latin typeface="Times New Roman"/>
              </a:rPr>
              <a:t> </a:t>
            </a:r>
            <a:r>
              <a:rPr lang="en-US" sz="2200" b="0" dirty="0" err="1" smtClean="0">
                <a:solidFill>
                  <a:srgbClr val="0B0B0B"/>
                </a:solidFill>
                <a:latin typeface="Times New Roman"/>
              </a:rPr>
              <a:t>Khadka</a:t>
            </a:r>
            <a:r>
              <a:rPr lang="en-US" sz="2200" b="0" dirty="0" smtClean="0">
                <a:solidFill>
                  <a:srgbClr val="0B0B0B"/>
                </a:solidFill>
                <a:latin typeface="Times New Roman"/>
              </a:rPr>
              <a:t>(080BCT077),</a:t>
            </a:r>
            <a:r>
              <a:rPr sz="2200" b="0" dirty="0" err="1" smtClean="0">
                <a:solidFill>
                  <a:srgbClr val="0B0B0B"/>
                </a:solidFill>
                <a:latin typeface="Times New Roman"/>
              </a:rPr>
              <a:t>Siwansh</a:t>
            </a:r>
            <a:r>
              <a:rPr sz="2200" b="0" dirty="0" smtClean="0">
                <a:solidFill>
                  <a:srgbClr val="0B0B0B"/>
                </a:solidFill>
                <a:latin typeface="Times New Roman"/>
              </a:rPr>
              <a:t> </a:t>
            </a:r>
            <a:r>
              <a:rPr sz="2200" b="0" dirty="0" err="1">
                <a:solidFill>
                  <a:srgbClr val="0B0B0B"/>
                </a:solidFill>
                <a:latin typeface="Times New Roman"/>
              </a:rPr>
              <a:t>Pathak</a:t>
            </a:r>
            <a:r>
              <a:rPr sz="2200" b="0" dirty="0">
                <a:solidFill>
                  <a:srgbClr val="0B0B0B"/>
                </a:solidFill>
                <a:latin typeface="Times New Roman"/>
              </a:rPr>
              <a:t> (080BCT083)</a:t>
            </a:r>
          </a:p>
          <a:p>
            <a:pPr algn="ctr">
              <a:spcAft>
                <a:spcPts val="0"/>
              </a:spcAft>
            </a:pPr>
            <a:r>
              <a:rPr sz="1800" b="0" dirty="0">
                <a:solidFill>
                  <a:srgbClr val="52514E"/>
                </a:solidFill>
                <a:latin typeface="Times New Roman"/>
              </a:rPr>
              <a:t>Department of Electronics &amp; Computer Engineering, </a:t>
            </a:r>
            <a:r>
              <a:rPr sz="1800" b="0" dirty="0" err="1">
                <a:solidFill>
                  <a:srgbClr val="52514E"/>
                </a:solidFill>
                <a:latin typeface="Times New Roman"/>
              </a:rPr>
              <a:t>Lalitpur</a:t>
            </a:r>
            <a:r>
              <a:rPr sz="1800" b="0" dirty="0">
                <a:solidFill>
                  <a:srgbClr val="52514E"/>
                </a:solidFill>
                <a:latin typeface="Times New Roman"/>
              </a:rPr>
              <a:t>, Nepal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Optimisation Problems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300">
                <a:solidFill>
                  <a:srgbClr val="0B0B0B"/>
                </a:solidFill>
                <a:latin typeface="Times New Roman"/>
              </a:rPr>
              <a:t>•  Many practical problems ask for the best arrangement out of a very large number of choices.</a:t>
            </a:r>
          </a:p>
          <a:p>
            <a:pPr algn="l">
              <a:spcAft>
                <a:spcPts val="1600"/>
              </a:spcAft>
            </a:pPr>
            <a:r>
              <a:rPr sz="2300">
                <a:solidFill>
                  <a:srgbClr val="0B0B0B"/>
                </a:solidFill>
                <a:latin typeface="Times New Roman"/>
              </a:rPr>
              <a:t>•  Delivery routes, timetables, machine scheduling and circuit layout are all of this kind.</a:t>
            </a:r>
          </a:p>
          <a:p>
            <a:pPr algn="l">
              <a:spcAft>
                <a:spcPts val="1600"/>
              </a:spcAft>
            </a:pPr>
            <a:r>
              <a:rPr sz="2300">
                <a:solidFill>
                  <a:srgbClr val="0B0B0B"/>
                </a:solidFill>
                <a:latin typeface="Times New Roman"/>
              </a:rPr>
              <a:t>•  For small cases we can check every option. For real sizes we cannot.</a:t>
            </a:r>
          </a:p>
          <a:p>
            <a:pPr algn="l">
              <a:spcAft>
                <a:spcPts val="1600"/>
              </a:spcAft>
            </a:pPr>
            <a:r>
              <a:rPr sz="2300">
                <a:solidFill>
                  <a:srgbClr val="0B0B0B"/>
                </a:solidFill>
                <a:latin typeface="Times New Roman"/>
              </a:rPr>
              <a:t>•  A search method is then used, which looks for a good answer in a reasonable time instead of the perfect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7223760"/>
            <a:ext cx="15727680" cy="1737360"/>
          </a:xfrm>
          <a:prstGeom prst="roundRect">
            <a:avLst>
              <a:gd name="adj" fmla="val 4000"/>
            </a:avLst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l">
              <a:spcAft>
                <a:spcPts val="1000"/>
              </a:spcAft>
            </a:pPr>
            <a:r>
              <a:rPr sz="2300" b="1">
                <a:solidFill>
                  <a:srgbClr val="0B0B0B"/>
                </a:solidFill>
                <a:latin typeface="Times New Roman"/>
              </a:rPr>
              <a:t>This project uses one such method, Simulated Annealing, on a routing problem built from real Kathmandu roads.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Simulated Annealing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Annealing is a process in metallurgy. Metal is heated and then cooled slowly.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While it is hot the atoms move freely. As it cools they settle into a low energy, stable structure.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If it is cooled too quickly the structure is left with faults.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6035040"/>
            <a:ext cx="7680960" cy="292608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B0B0B"/>
                </a:solidFill>
                <a:latin typeface="Times New Roman"/>
              </a:rPr>
              <a:t>Kirkpatrick and others turned this into a search method in 1983.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The solution plays the part of the structure, its cost plays the part of the energy, and a temperature controls how freely the search is allowed to move.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0" y="2240280"/>
          <a:ext cx="74066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49039"/>
              </a:tblGrid>
              <a:tr h="67056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Annealing metal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Simulated annealing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Structure of the metal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A candidate solution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Energy of the structure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Cost we want to reduce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Temperature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How much worsening is allowed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Cooling slowly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Reducing the temperature over time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Low energy result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A good final solution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0" y="667512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The method is general. It only needs a way to measure a solution and a way to make a small change to it.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That is why the same idea works for routes, timetables and layouts.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The Simulated Annealing Loop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34640"/>
            <a:ext cx="2331720" cy="14630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Start from any
solution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3566160"/>
            <a:ext cx="256032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56432" y="2834640"/>
            <a:ext cx="2331720" cy="14630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Make a small
change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3566160"/>
            <a:ext cx="256032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44184" y="2834640"/>
            <a:ext cx="2331720" cy="14630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Measure the
new cost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75904" y="3566160"/>
            <a:ext cx="256032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31936" y="2834640"/>
            <a:ext cx="2331720" cy="1463040"/>
          </a:xfrm>
          <a:prstGeom prst="roundRect">
            <a:avLst/>
          </a:prstGeom>
          <a:solidFill>
            <a:srgbClr val="DEF3EA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Better
keep 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63656" y="3566160"/>
            <a:ext cx="256032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219688" y="2834640"/>
            <a:ext cx="2331720" cy="1463040"/>
          </a:xfrm>
          <a:prstGeom prst="roundRect">
            <a:avLst/>
          </a:prstGeom>
          <a:solidFill>
            <a:srgbClr val="FCECE4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Worse
keep it sometimes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551408" y="3566160"/>
            <a:ext cx="256032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3807440" y="2834640"/>
            <a:ext cx="2331720" cy="14630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Lower the
temperature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139159" y="4297680"/>
            <a:ext cx="0" cy="54864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65960" y="4846320"/>
            <a:ext cx="14173199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65960" y="4343400"/>
            <a:ext cx="0" cy="50292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8680" y="5120640"/>
            <a:ext cx="1572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The loop repeats until the temperature reaches its lowest value.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943600"/>
            <a:ext cx="15727680" cy="1005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l"/>
            <a:r>
              <a:rPr sz="1900" b="1">
                <a:solidFill>
                  <a:srgbClr val="2A78D6"/>
                </a:solidFill>
                <a:latin typeface="Times New Roman"/>
              </a:rPr>
              <a:t>Early in the search   </a:t>
            </a:r>
            <a:r>
              <a:rPr sz="1900">
                <a:solidFill>
                  <a:srgbClr val="0B0B0B"/>
                </a:solidFill>
                <a:latin typeface="Times New Roman"/>
              </a:rPr>
              <a:t>The temperature is high, most worse solutions are accepted, and the search moves around the whole space.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7059168"/>
            <a:ext cx="15727680" cy="1005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l"/>
            <a:r>
              <a:rPr sz="1900" b="1">
                <a:solidFill>
                  <a:srgbClr val="2A78D6"/>
                </a:solidFill>
                <a:latin typeface="Times New Roman"/>
              </a:rPr>
              <a:t>Later in the search   </a:t>
            </a:r>
            <a:r>
              <a:rPr sz="1900">
                <a:solidFill>
                  <a:srgbClr val="0B0B0B"/>
                </a:solidFill>
                <a:latin typeface="Times New Roman"/>
              </a:rPr>
              <a:t>The temperature is low, worse solutions are almost always rejected, and the search behaves like a simple improvement method.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8174736"/>
            <a:ext cx="15727680" cy="1005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l"/>
            <a:r>
              <a:rPr sz="1900" b="1">
                <a:solidFill>
                  <a:srgbClr val="2A78D6"/>
                </a:solidFill>
                <a:latin typeface="Times New Roman"/>
              </a:rPr>
              <a:t>Throughout   </a:t>
            </a:r>
            <a:r>
              <a:rPr sz="1900">
                <a:solidFill>
                  <a:srgbClr val="0B0B0B"/>
                </a:solidFill>
                <a:latin typeface="Times New Roman"/>
              </a:rPr>
              <a:t>The best solution seen so far is stored separately, so a worse move can never lose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The Acceptance Rule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40280"/>
            <a:ext cx="7589520" cy="2103120"/>
          </a:xfrm>
          <a:prstGeom prst="roundRect">
            <a:avLst>
              <a:gd name="adj" fmla="val 4000"/>
            </a:avLst>
          </a:prstGeom>
          <a:solidFill>
            <a:srgbClr val="F7F7F4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11480" rtlCol="0" anchor="ctr"/>
          <a:lstStyle/>
          <a:p>
            <a:pPr algn="ctr"/>
            <a:r>
              <a:rPr sz="4000" b="1">
                <a:solidFill>
                  <a:srgbClr val="2A78D6"/>
                </a:solidFill>
                <a:latin typeface="Times New Roman"/>
              </a:rPr>
              <a:t>P = exp(-delta / 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7589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delta is how much worse the new solution is.</a:t>
            </a:r>
          </a:p>
          <a:p>
            <a:pPr algn="l">
              <a:spcAft>
                <a:spcPts val="12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T is the current temperature.</a:t>
            </a:r>
          </a:p>
          <a:p>
            <a:pPr algn="l">
              <a:spcAft>
                <a:spcPts val="12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A better solution is always accepted.</a:t>
            </a:r>
          </a:p>
          <a:p>
            <a:pPr algn="l">
              <a:spcAft>
                <a:spcPts val="12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A worse one is accepted only if a random number between 0 and 1 falls below P.</a:t>
            </a:r>
          </a:p>
          <a:p>
            <a:pPr algn="l">
              <a:spcAft>
                <a:spcPts val="12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A small worsening or a high temperature both make P large.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0" y="2240280"/>
          <a:ext cx="7406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Extra distance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T = 100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T = 10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T = 1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1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0.37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5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0.61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0.01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20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0.82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0.14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0" y="484632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Probability of accepting a worse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669280"/>
            <a:ext cx="7406640" cy="301752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At a high temperature even a 20 km worsening is usually accepted.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At a low temperature only tiny worsenings get through.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This is how the search changes from exploring to settling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Temperature and Cooling Schedule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1" name="TextBox 11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pic>
        <p:nvPicPr>
          <p:cNvPr id="13" name="Picture 12" descr="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377440"/>
            <a:ext cx="12801600" cy="4465674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7040880"/>
          <a:ext cx="1572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10058400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Value used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Initial temperature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How freely the search moves at the start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Cooling rate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0.995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Temperature is multiplied by this after every 100 tries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Minimum temperature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0.001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The search stops when the temperature falls below it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Tries per temperature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How long the search stays at one temperature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Escaping a Local Optimum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A method that only accepts improvements stops at the first dip it finds.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Accepting a worse solution now and then lets the search climb out and carry on.</a:t>
            </a:r>
          </a:p>
        </p:txBody>
      </p:sp>
      <p:pic>
        <p:nvPicPr>
          <p:cNvPr id="15" name="Picture 14" descr="local_op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566160"/>
            <a:ext cx="13350240" cy="50678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877824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Both searches start at the same point on the same function, from the introductory notebook in our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Travelling Salesman Problem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1" name="TextBox 11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Start from one city.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Visit every other city exactly once.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Return to the starting city.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•  Make the total distance as small as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5836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Both routes on the right visit all six cities.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Only the order is different.</a:t>
            </a:r>
          </a:p>
        </p:txBody>
      </p:sp>
      <p:pic>
        <p:nvPicPr>
          <p:cNvPr id="15" name="Picture 14" descr="tsp_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834640"/>
            <a:ext cx="10972800" cy="4518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Growth of Possible Routes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1554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0B0B0B"/>
                </a:solidFill>
                <a:latin typeface="Times New Roman"/>
              </a:rPr>
              <a:t>With a fixed start, n locations give (n-1)! / 2 different routes.</a:t>
            </a:r>
          </a:p>
        </p:txBody>
      </p:sp>
      <p:pic>
        <p:nvPicPr>
          <p:cNvPr id="15" name="Picture 14" descr="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17520"/>
            <a:ext cx="12070080" cy="563085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3258800" y="3291840"/>
            <a:ext cx="3291840" cy="3657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tlCol="0" anchor="ctr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B0B0B"/>
                </a:solidFill>
                <a:latin typeface="Times New Roman"/>
              </a:rPr>
              <a:t>10 places</a:t>
            </a:r>
          </a:p>
          <a:p>
            <a:pPr algn="l">
              <a:spcAft>
                <a:spcPts val="2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181,440 routes</a:t>
            </a:r>
          </a:p>
          <a:p>
            <a:pPr algn="l">
              <a:spcAft>
                <a:spcPts val="200"/>
              </a:spcAft>
            </a:pPr>
            <a:endParaRPr sz="1900">
              <a:solidFill>
                <a:srgbClr val="0B0B0B"/>
              </a:solidFill>
              <a:latin typeface="Times New Roman"/>
            </a:endParaRP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0B0B0B"/>
                </a:solidFill>
                <a:latin typeface="Times New Roman"/>
              </a:rPr>
              <a:t>15 places</a:t>
            </a:r>
          </a:p>
          <a:p>
            <a:pPr algn="l">
              <a:spcAft>
                <a:spcPts val="2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43.6 billion routes</a:t>
            </a:r>
          </a:p>
          <a:p>
            <a:pPr algn="l">
              <a:spcAft>
                <a:spcPts val="200"/>
              </a:spcAft>
            </a:pPr>
            <a:endParaRPr sz="1900">
              <a:solidFill>
                <a:srgbClr val="0B0B0B"/>
              </a:solidFill>
              <a:latin typeface="Times New Roman"/>
            </a:endParaRP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0B0B0B"/>
                </a:solidFill>
                <a:latin typeface="Times New Roman"/>
              </a:rPr>
              <a:t>20 places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EB6834"/>
                </a:solidFill>
                <a:latin typeface="Times New Roman"/>
              </a:rPr>
              <a:t>6.08 x 10^16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8686800"/>
            <a:ext cx="1554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Checking every route is not practical, so we search for a good route instead.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Kathmandu Route Problem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20 real locations in Kathmandu and Lalitpur.</a:t>
            </a:r>
          </a:p>
          <a:p>
            <a:pPr algn="l">
              <a:spcAft>
                <a:spcPts val="16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Distances are real driving distances from OSRM, not straight lines.</a:t>
            </a:r>
          </a:p>
          <a:p>
            <a:pPr algn="l">
              <a:spcAft>
                <a:spcPts val="16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The user picks the starting location when the program runs.</a:t>
            </a:r>
          </a:p>
          <a:p>
            <a:pPr algn="l">
              <a:spcAft>
                <a:spcPts val="1600"/>
              </a:spcAft>
            </a:pPr>
            <a:r>
              <a:rPr sz="2100">
                <a:solidFill>
                  <a:srgbClr val="0B0B0B"/>
                </a:solidFill>
                <a:latin typeface="Times New Roman"/>
              </a:rPr>
              <a:t>•  The route visits every location once and comes back to the start.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6812280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B0B0B"/>
                </a:solidFill>
                <a:latin typeface="Times New Roman"/>
              </a:rPr>
              <a:t>Start used in this presentation: New Baneshwor</a:t>
            </a:r>
          </a:p>
        </p:txBody>
      </p:sp>
      <p:pic>
        <p:nvPicPr>
          <p:cNvPr id="16" name="Picture 15" descr="loc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286000"/>
            <a:ext cx="9553281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Kathmandu Road Distance Data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1" name="TextBox 11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Coordinates of 20 locations are stored in places.py.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build_graph.py sends them to the OSRM table service once.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The result is a 20 x 20 directed matrix saved in OUTPUT/tsp_graph.json.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A to B and B to A can differ, because these are real road distances.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46320"/>
            <a:ext cx="7680960" cy="3931920"/>
          </a:xfrm>
          <a:prstGeom prst="roundRect">
            <a:avLst>
              <a:gd name="adj" fmla="val 4000"/>
            </a:avLst>
          </a:prstGeom>
          <a:solidFill>
            <a:srgbClr val="F7F7F4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new_route = swap_two_cities(current_route, rng)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new_distance = route_distance(graph, new_route)</a:t>
            </a:r>
          </a:p>
          <a:p>
            <a:pPr algn="l">
              <a:spcAft>
                <a:spcPts val="0"/>
              </a:spcAft>
            </a:pPr>
            <a:endParaRPr sz="1500">
              <a:solidFill>
                <a:srgbClr val="0B0B0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delta = new_distance - current_distance</a:t>
            </a:r>
          </a:p>
          <a:p>
            <a:pPr algn="l">
              <a:spcAft>
                <a:spcPts val="0"/>
              </a:spcAft>
            </a:pPr>
            <a:endParaRPr sz="1500">
              <a:solidFill>
                <a:srgbClr val="0B0B0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if delta &lt; 0: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current_route = new_route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current_distance = new_distance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else: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probability = math.exp(-delta / temperature)</a:t>
            </a:r>
          </a:p>
          <a:p>
            <a:pPr algn="l">
              <a:spcAft>
                <a:spcPts val="0"/>
              </a:spcAft>
            </a:pPr>
            <a:endParaRPr sz="1500">
              <a:solidFill>
                <a:srgbClr val="0B0B0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if rng.random() &lt; probability: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    current_route = new_route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0B0B0B"/>
                </a:solidFill>
                <a:latin typeface="Consolas"/>
              </a:rPr>
              <a:t>        current_distance = new_distance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8732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52514E"/>
                </a:solidFill>
                <a:latin typeface="Times New Roman"/>
              </a:rPr>
              <a:t>simulated_annealing.py, the accept step</a:t>
            </a:r>
          </a:p>
        </p:txBody>
      </p:sp>
      <p:pic>
        <p:nvPicPr>
          <p:cNvPr id="16" name="Picture 15" descr="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286000"/>
            <a:ext cx="7566631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Simulated Annealing for Our Routes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2377440"/>
            <a:ext cx="5120640" cy="8229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Random start route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34840" y="3200400"/>
            <a:ext cx="0" cy="22860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74519" y="3429000"/>
            <a:ext cx="5120640" cy="8229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Swap two locations
to get a neighbour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34840" y="4251960"/>
            <a:ext cx="0" cy="22860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74519" y="4480560"/>
            <a:ext cx="5120640" cy="822960"/>
          </a:xfrm>
          <a:prstGeom prst="roundRect">
            <a:avLst/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delta = new distance - current distance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4840" y="5303520"/>
            <a:ext cx="0" cy="22860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74519" y="5532120"/>
            <a:ext cx="5120640" cy="822960"/>
          </a:xfrm>
          <a:prstGeom prst="roundRect">
            <a:avLst/>
          </a:prstGeom>
          <a:solidFill>
            <a:srgbClr val="FFF4D9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delta &lt; 0 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6355080"/>
            <a:ext cx="0" cy="22860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74519" y="6583679"/>
            <a:ext cx="5120640" cy="8229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Cool down:  T = T x 0.995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7406640"/>
            <a:ext cx="0" cy="22860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74519" y="7635240"/>
            <a:ext cx="5120640" cy="822960"/>
          </a:xfrm>
          <a:prstGeom prst="roundRect">
            <a:avLst/>
          </a:prstGeom>
          <a:solidFill>
            <a:srgbClr val="DEF3EA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0B0B0B"/>
                </a:solidFill>
                <a:latin typeface="Times New Roman"/>
              </a:rPr>
              <a:t>Stop when T &lt; 0.001 and keep the best 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5303520"/>
            <a:ext cx="3703320" cy="731520"/>
          </a:xfrm>
          <a:prstGeom prst="roundRect">
            <a:avLst/>
          </a:prstGeom>
          <a:solidFill>
            <a:srgbClr val="DEF3EA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>
                <a:solidFill>
                  <a:srgbClr val="0B0B0B"/>
                </a:solidFill>
                <a:latin typeface="Times New Roman"/>
              </a:rPr>
              <a:t>yes  -&gt;  accept the route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6126479"/>
            <a:ext cx="3703320" cy="731520"/>
          </a:xfrm>
          <a:prstGeom prst="roundRect">
            <a:avLst/>
          </a:prstGeom>
          <a:solidFill>
            <a:srgbClr val="FCECE4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>
                <a:solidFill>
                  <a:srgbClr val="0B0B0B"/>
                </a:solidFill>
                <a:latin typeface="Times New Roman"/>
              </a:rPr>
              <a:t>no  -&gt;  accept with probability 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5669280"/>
            <a:ext cx="228600" cy="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5160" y="5943600"/>
            <a:ext cx="228600" cy="548640"/>
          </a:xfrm>
          <a:prstGeom prst="line">
            <a:avLst/>
          </a:prstGeom>
          <a:ln w="25400">
            <a:solidFill>
              <a:srgbClr val="8A89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292840" y="2651760"/>
            <a:ext cx="5257800" cy="28346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A route is a list that starts and ends at the chosen location.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A neighbour swaps two of the places in between, so the route stays valid.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The cost is the sum of the driving distances, including the leg back to the start.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92840" y="5760720"/>
            <a:ext cx="5257800" cy="265176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One run does 229,700 candidate routes.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The whole thing is repeated 30 times with different random seeds, and the best route is kept.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Best Route Found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  <p:pic>
        <p:nvPicPr>
          <p:cNvPr id="14" name="Picture 13" descr="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94560"/>
            <a:ext cx="8189932" cy="7223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68680" y="2240280"/>
            <a:ext cx="3749039" cy="173736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400"/>
              </a:spcAft>
            </a:pPr>
            <a:r>
              <a:rPr sz="2100">
                <a:solidFill>
                  <a:srgbClr val="52514E"/>
                </a:solidFill>
                <a:latin typeface="Times New Roman"/>
              </a:rPr>
              <a:t>Start</a:t>
            </a:r>
          </a:p>
          <a:p>
            <a:pPr algn="l">
              <a:spcAft>
                <a:spcPts val="400"/>
              </a:spcAft>
            </a:pPr>
            <a:r>
              <a:rPr sz="2100" b="1">
                <a:solidFill>
                  <a:srgbClr val="0B0B0B"/>
                </a:solidFill>
                <a:latin typeface="Times New Roman"/>
              </a:rPr>
              <a:t>New Baneshwor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06240"/>
            <a:ext cx="3749039" cy="19202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l">
              <a:spcAft>
                <a:spcPts val="400"/>
              </a:spcAft>
            </a:pPr>
            <a:r>
              <a:rPr sz="2100">
                <a:solidFill>
                  <a:srgbClr val="52514E"/>
                </a:solidFill>
                <a:latin typeface="Times New Roman"/>
              </a:rPr>
              <a:t>Best distance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2A78D6"/>
                </a:solidFill>
                <a:latin typeface="Times New Roman"/>
              </a:rPr>
              <a:t>47.27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400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Best of 30 runs, found with seed 3.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The line follows the real roads returned by OSRM, so short hops between nearby places can look longer than a straight 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Simulated Annealing Results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2240280"/>
          <a:ext cx="50292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Measure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Best distance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Average distance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50.02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Worst distance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53.03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Standard deviation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1.60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Number of runs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Iterations per run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229,700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Time per run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0.61 sec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Total time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0B0B"/>
                          </a:solidFill>
                          <a:latin typeface="Times New Roman"/>
                        </a:rPr>
                        <a:t>18.16 sec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68680" y="7406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Each run starts from a different random route, so the results differ.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The best run is kept as the final answer.</a:t>
            </a:r>
          </a:p>
        </p:txBody>
      </p:sp>
      <p:pic>
        <p:nvPicPr>
          <p:cNvPr id="16" name="Picture 15" descr="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834640"/>
            <a:ext cx="9966960" cy="5547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81838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Blue is the route the search is currently on, orange is the best route found so far.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Comparison of TSP Approaches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1554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Simulated annealing is the main algorithm. The other three are only used to check it, on the same 20 locations, the same matrix and the same start.</a:t>
            </a:r>
          </a:p>
        </p:txBody>
      </p:sp>
      <p:pic>
        <p:nvPicPr>
          <p:cNvPr id="15" name="Picture 14" descr="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26080"/>
            <a:ext cx="7569523" cy="630936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052560" y="3291840"/>
          <a:ext cx="7498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645920"/>
                <a:gridCol w="1280160"/>
              </a:tblGrid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Distance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Time per run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Runs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Simulated Annealing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0.58501 sec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Greedy (Nearest Neighbour)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50.39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0.00002 sec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Genetic Algorithm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54.86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0.04546 sec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Random Search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84.86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0.00347 sec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1000 routes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052560" y="67665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Distances come from fixed seeds, so they repeat exactly.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Times are from one measurement session and change a little with machine 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Spread of the Repeated Runs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1554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Simulated annealing and the genetic algorithm are random, so they were run several times. Greedy is deterministic and random search is reported as the best of its 1,000 tries.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3383280"/>
          <a:ext cx="15727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011680"/>
                <a:gridCol w="2468880"/>
                <a:gridCol w="246888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Runs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Best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Average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Worst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Std dev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Simulated Annealing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50.02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53.03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1.60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Genetic Algorithm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54.86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57.86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63.89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2.63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Greedy (Nearest Neighbour)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50.39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50.39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50.39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0.00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0B0B0B"/>
                          </a:solidFill>
                          <a:latin typeface="Times New Roman"/>
                        </a:rPr>
                        <a:t>Random Search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1000 routes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84.86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68680" y="6492240"/>
            <a:ext cx="15727680" cy="9144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73152" rtlCol="0" anchor="ctr"/>
          <a:lstStyle/>
          <a:p>
            <a:pPr algn="l"/>
            <a:r>
              <a:rPr sz="1900" b="1" dirty="0">
                <a:solidFill>
                  <a:srgbClr val="2A78D6"/>
                </a:solidFill>
                <a:latin typeface="Times New Roman"/>
              </a:rPr>
              <a:t>Simulated annealing is both the best and the most consistent   </a:t>
            </a:r>
            <a:r>
              <a:rPr sz="1900" dirty="0">
                <a:solidFill>
                  <a:srgbClr val="0B0B0B"/>
                </a:solidFill>
                <a:latin typeface="Times New Roman"/>
              </a:rPr>
              <a:t>Its worst run, 53.03 km, is still shorter than the best genetic algorithm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7498079"/>
            <a:ext cx="15727680" cy="9144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73152" rtlCol="0" anchor="ctr"/>
          <a:lstStyle/>
          <a:p>
            <a:pPr algn="l"/>
            <a:r>
              <a:rPr sz="1900" b="1">
                <a:solidFill>
                  <a:srgbClr val="2A78D6"/>
                </a:solidFill>
                <a:latin typeface="Times New Roman"/>
              </a:rPr>
              <a:t>The genetic algorithm varies the most   </a:t>
            </a:r>
            <a:r>
              <a:rPr sz="1900">
                <a:solidFill>
                  <a:srgbClr val="0B0B0B"/>
                </a:solidFill>
                <a:latin typeface="Times New Roman"/>
              </a:rPr>
              <a:t>A spread of 2.63 km, and its worst run reached 63.89 km.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8503919"/>
            <a:ext cx="15727680" cy="9144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73152" rtlCol="0" anchor="ctr"/>
          <a:lstStyle/>
          <a:p>
            <a:pPr algn="l"/>
            <a:r>
              <a:rPr sz="1900" b="1">
                <a:solidFill>
                  <a:srgbClr val="2A78D6"/>
                </a:solidFill>
                <a:latin typeface="Times New Roman"/>
              </a:rPr>
              <a:t>Greedy has no spread at all   </a:t>
            </a:r>
            <a:r>
              <a:rPr sz="1900">
                <a:solidFill>
                  <a:srgbClr val="0B0B0B"/>
                </a:solidFill>
                <a:latin typeface="Times New Roman"/>
              </a:rPr>
              <a:t>For a fixed start and a fixed matrix it always builds the same route.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Algorithm Complexity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1" name="TextBox 11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1554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Taken from the loops in our own code, with n = 20 locations.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3108960"/>
          <a:ext cx="15727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680960"/>
                <a:gridCol w="2560320"/>
                <a:gridCol w="2560320"/>
              </a:tblGrid>
              <a:tr h="6583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Loop in our code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Space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Simulated Annealing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2,297 temperature levels x 100 iterations, each one measures a full route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O(L k n)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O(n + L)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Genetic Algorithm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200 generations x population of 40, crossover and distance are both O(n)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O(G P n)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O(P n)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Greedy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for each location, scan the ones not yet visited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O(n^2)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Random Search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1,000 trials, each shuffles and measures one route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O(T n)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68680" y="6583680"/>
            <a:ext cx="7589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L = temperature levels, k = iterations per level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G = generations, P = population size, T = trials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2514E"/>
                </a:solidFill>
                <a:latin typeface="Times New Roman"/>
              </a:rPr>
              <a:t>The 20 x 20 distance matrix is built once and shared, so every method also holds O(n^2) of data.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052560" y="6583680"/>
          <a:ext cx="7498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011680"/>
              </a:tblGrid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R="73152">
                    <a:solidFill>
                      <a:srgbClr val="525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Route evaluations</a:t>
                      </a:r>
                    </a:p>
                  </a:txBody>
                  <a:tcPr marR="73152">
                    <a:solidFill>
                      <a:srgbClr val="5251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R="73152">
                    <a:solidFill>
                      <a:srgbClr val="5251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Simulated Annealing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229,700 per run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Genetic Algorithm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8,040 per run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54.86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Greedy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one construction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50.39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Random Search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1,000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B0B0B"/>
                          </a:solidFill>
                          <a:latin typeface="Times New Roman"/>
                        </a:rPr>
                        <a:t>84.86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Observations from the Results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40280"/>
            <a:ext cx="15727680" cy="141732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A78D6"/>
                </a:solidFill>
                <a:latin typeface="Times New Roman"/>
              </a:rPr>
              <a:t>Simulated annealing gave the shortest route</a:t>
            </a:r>
          </a:p>
          <a:p>
            <a:pPr algn="l">
              <a:spcAft>
                <a:spcPts val="2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47.27 km, about 6 percent shorter than greedy on this instance.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40480"/>
            <a:ext cx="15727680" cy="141732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A78D6"/>
                </a:solidFill>
                <a:latin typeface="Times New Roman"/>
              </a:rPr>
              <a:t>Greedy was fast and surprisingly good</a:t>
            </a:r>
          </a:p>
          <a:p>
            <a:pPr algn="l">
              <a:spcAft>
                <a:spcPts val="2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50.39 km in 0.00002 sec. Second best here, and thousands of times faster than 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440680"/>
            <a:ext cx="15727680" cy="141732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A78D6"/>
                </a:solidFill>
                <a:latin typeface="Times New Roman"/>
              </a:rPr>
              <a:t>The genetic algorithm came last of the three search methods</a:t>
            </a:r>
          </a:p>
          <a:p>
            <a:pPr algn="l">
              <a:spcAft>
                <a:spcPts val="2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54.86 km, behind greedy. It used 8,040 route evaluations per run against 229,700 for 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7040880"/>
            <a:ext cx="15727680" cy="141732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A78D6"/>
                </a:solidFill>
                <a:latin typeface="Times New Roman"/>
              </a:rPr>
              <a:t>Random search was the weakest</a:t>
            </a:r>
          </a:p>
          <a:p>
            <a:pPr algn="l">
              <a:spcAft>
                <a:spcPts val="200"/>
              </a:spcAft>
            </a:pPr>
            <a:r>
              <a:rPr sz="2000">
                <a:solidFill>
                  <a:srgbClr val="52514E"/>
                </a:solidFill>
                <a:latin typeface="Times New Roman"/>
              </a:rPr>
              <a:t>84.86 km from 1,000 random routes. Sampling without any strategy is not enough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8732519"/>
            <a:ext cx="1572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These numbers describe our implementation and our settings. A different parameter choice, especially for the genetic algorithm, would change them. None of the four methods is guaranteed to find the shortest possible route.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Effect of Cooling Rate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</a:p>
        </p:txBody>
      </p:sp>
      <p:pic>
        <p:nvPicPr>
          <p:cNvPr id="14" name="Picture 13" descr="coo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77440"/>
            <a:ext cx="10332720" cy="581849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521440" y="2560320"/>
          <a:ext cx="5029200" cy="2731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188720"/>
                <a:gridCol w="1280160"/>
              </a:tblGrid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Cooling rate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Average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Best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Time per run</a:t>
                      </a:r>
                    </a:p>
                  </a:txBody>
                  <a:tcPr marR="73152">
                    <a:solidFill>
                      <a:srgbClr val="2A78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52.34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47.36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0.06 sec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0.99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51.52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49.17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0.29 sec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0.995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50.66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0.58 sec</a:t>
                      </a:r>
                    </a:p>
                  </a:txBody>
                  <a:tcPr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0.999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48.23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47.27 km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0B0B"/>
                          </a:solidFill>
                          <a:latin typeface="Times New Roman"/>
                        </a:rPr>
                        <a:t>2.92 sec</a:t>
                      </a:r>
                    </a:p>
                  </a:txBody>
                  <a:tcPr marR="73152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521440" y="5486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0B0B0B"/>
                </a:solidFill>
                <a:latin typeface="Times New Roman"/>
              </a:rPr>
              <a:t>5 runs for each cooling rate.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A rate closer to 1 cools more slowly, gives more iterations and a shorter average route, but costs more time.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52514E"/>
                </a:solidFill>
                <a:latin typeface="Times New Roman"/>
              </a:rPr>
              <a:t>Here the average improved at every step. SA is random and 5 runs is a small sample, so a small reversal between two close rates would not be unusual.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38912"/>
            <a:ext cx="14744700" cy="1303020"/>
            <a:chOff x="0" y="0"/>
            <a:chExt cx="19659600" cy="1737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9600" cy="1737360"/>
            </a:xfrm>
            <a:custGeom>
              <a:avLst/>
              <a:gdLst/>
              <a:ahLst/>
              <a:cxnLst/>
              <a:rect l="l" t="t" r="r" b="b"/>
              <a:pathLst>
                <a:path w="19659600" h="1737360">
                  <a:moveTo>
                    <a:pt x="0" y="0"/>
                  </a:moveTo>
                  <a:lnTo>
                    <a:pt x="19659600" y="0"/>
                  </a:lnTo>
                  <a:lnTo>
                    <a:pt x="19659600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1F80FF"/>
            </a:solidFill>
          </p:spPr>
          <p:txBody>
            <a:bodyPr/>
            <a:lstStyle/>
            <a:p>
              <a:r>
                <a:rPr sz="5000" b="0">
                  <a:solidFill>
                    <a:srgbClr val="0B0B0B"/>
                  </a:solidFill>
                  <a:latin typeface="Times New Roman"/>
                </a:rPr>
                <a:t>Limitations and Conclusion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392" y="411480"/>
            <a:ext cx="13716000" cy="1371600"/>
            <a:chOff x="0" y="0"/>
            <a:chExt cx="18288000" cy="1828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288000" cy="1857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00832" y="192024"/>
            <a:ext cx="1528172" cy="1714500"/>
            <a:chOff x="0" y="0"/>
            <a:chExt cx="2037563" cy="2286000"/>
          </a:xfrm>
        </p:grpSpPr>
        <p:sp>
          <p:nvSpPr>
            <p:cNvPr id="8" name="Freeform 8" descr="tu.png"/>
            <p:cNvSpPr/>
            <p:nvPr/>
          </p:nvSpPr>
          <p:spPr>
            <a:xfrm>
              <a:off x="0" y="0"/>
              <a:ext cx="2037588" cy="2286000"/>
            </a:xfrm>
            <a:custGeom>
              <a:avLst/>
              <a:gdLst/>
              <a:ahLst/>
              <a:cxnLst/>
              <a:rect l="l" t="t" r="r" b="b"/>
              <a:pathLst>
                <a:path w="2037588" h="2286000">
                  <a:moveTo>
                    <a:pt x="0" y="0"/>
                  </a:moveTo>
                  <a:lnTo>
                    <a:pt x="2037588" y="0"/>
                  </a:lnTo>
                  <a:lnTo>
                    <a:pt x="2037588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843248" y="2125980"/>
            <a:ext cx="1440180" cy="8161020"/>
            <a:chOff x="0" y="0"/>
            <a:chExt cx="1920240" cy="10881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" cy="10881360"/>
            </a:xfrm>
            <a:custGeom>
              <a:avLst/>
              <a:gdLst/>
              <a:ahLst/>
              <a:cxnLst/>
              <a:rect l="l" t="t" r="r" b="b"/>
              <a:pathLst>
                <a:path w="1920240" h="10881360">
                  <a:moveTo>
                    <a:pt x="0" y="0"/>
                  </a:moveTo>
                  <a:lnTo>
                    <a:pt x="1920240" y="0"/>
                  </a:lnTo>
                  <a:lnTo>
                    <a:pt x="1920240" y="10881360"/>
                  </a:lnTo>
                  <a:lnTo>
                    <a:pt x="0" y="10881360"/>
                  </a:lnTo>
                  <a:close/>
                </a:path>
              </a:pathLst>
            </a:custGeom>
            <a:gradFill rotWithShape="1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2" name="TextBox 12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26712" y="9559290"/>
            <a:ext cx="7772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0B0B0B"/>
                </a:solidFill>
                <a:latin typeface="Times New Roman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7589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SA is stochastic, so every run gives a slightly different route.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It does not guarantee the shortest possible route, only a good one.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Results depend on the temperature, cooling rate and number of iterations.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Distances are fixed to the OSRM data collected when the matrix was built.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402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0B0B0B"/>
                </a:solidFill>
                <a:latin typeface="Times New Roman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971800"/>
            <a:ext cx="7589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SA found a 47.27 km round trip through all 20 locations from New Baneshwor.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It was the shortest route among the four methods we tested.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It needs more time than greedy, but under a second per run is acceptable here.</a:t>
            </a:r>
          </a:p>
          <a:p>
            <a:pPr algn="l">
              <a:spcAft>
                <a:spcPts val="1400"/>
              </a:spcAft>
            </a:pPr>
            <a:r>
              <a:rPr sz="2000">
                <a:solidFill>
                  <a:srgbClr val="0B0B0B"/>
                </a:solidFill>
                <a:latin typeface="Times New Roman"/>
              </a:rPr>
              <a:t>•  Accepting worse routes early is what let it improve on the greedy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7223760"/>
            <a:ext cx="15727680" cy="1737360"/>
          </a:xfrm>
          <a:prstGeom prst="roundRect">
            <a:avLst>
              <a:gd name="adj" fmla="val 4000"/>
            </a:avLst>
          </a:prstGeom>
          <a:solidFill>
            <a:srgbClr val="E8F1FC"/>
          </a:solidFill>
          <a:ln w="12700">
            <a:solidFill>
              <a:srgbClr val="D8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ctr"/>
            <a:r>
              <a:rPr sz="2400" b="1">
                <a:solidFill>
                  <a:srgbClr val="0B0B0B"/>
                </a:solidFill>
                <a:latin typeface="Times New Roman"/>
              </a:rPr>
              <a:t>Best result:  47.27 km, 30 runs, 229,700 iterations per run, about 0.6 seconds per 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48840" y="3701415"/>
            <a:ext cx="13944600" cy="269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  <a:p>
            <a:pPr algn="ctr">
              <a:lnSpc>
                <a:spcPts val="4680"/>
              </a:lnSpc>
            </a:pPr>
            <a:r>
              <a:rPr lang="en-US" sz="39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Questions are welcome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9627870"/>
            <a:ext cx="530352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for TSP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2110</Words>
  <Application>Microsoft Office PowerPoint</Application>
  <PresentationFormat>Custom</PresentationFormat>
  <Paragraphs>367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Times New Roman</vt:lpstr>
      <vt:lpstr>Times New Roman Bold</vt:lpstr>
      <vt:lpstr>Times New Roman Italics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Pulchowk_Project_Repository_Final_Defense.pptx</dc:title>
  <dc:creator>user</dc:creator>
  <cp:lastModifiedBy>user</cp:lastModifiedBy>
  <cp:revision>6</cp:revision>
  <dcterms:created xsi:type="dcterms:W3CDTF">2006-08-16T00:00:00Z</dcterms:created>
  <dcterms:modified xsi:type="dcterms:W3CDTF">2026-09-04T11:00:24Z</dcterms:modified>
  <dc:identifier>DAHTZI7lhzg</dc:identifier>
</cp:coreProperties>
</file>